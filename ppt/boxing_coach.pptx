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0" r:id="rId5"/>
    <p:sldId id="261" r:id="rId6"/>
    <p:sldId id="262" r:id="rId7"/>
    <p:sldId id="268" r:id="rId8"/>
    <p:sldId id="269" r:id="rId9"/>
    <p:sldId id="263" r:id="rId10"/>
    <p:sldId id="264" r:id="rId11"/>
    <p:sldId id="270" r:id="rId12"/>
    <p:sldId id="266" r:id="rId13"/>
    <p:sldId id="271" r:id="rId14"/>
    <p:sldId id="272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E1B"/>
    <a:srgbClr val="0C0F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614"/>
  </p:normalViewPr>
  <p:slideViewPr>
    <p:cSldViewPr snapToGrid="0" snapToObjects="1">
      <p:cViewPr>
        <p:scale>
          <a:sx n="123" d="100"/>
          <a:sy n="123" d="100"/>
        </p:scale>
        <p:origin x="1112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109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ACEF0-015A-0BBF-39A1-A10166F06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10C712-227C-A059-196E-123C5DE34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40935-B4D4-9DF3-FFFA-430F80C07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404F1-B818-2042-37CE-69AE255ED2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8959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41E5E-A070-8B76-60FD-1BED35B01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CE9159-3B57-EB05-01DC-57459D64E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5AEBFA-4288-9039-632E-AED491AF7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EA14C-6B0E-B859-F49F-83F36CFE95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7052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68094-DB3C-759E-5AE1-D376782FA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F6F0FF-ED6A-ED48-7FBA-891AE701ED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8CBCF4-A69D-ACAC-9A29-909900B14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732D2-7A83-0C54-55EC-C32A9D4900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023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o1zmVS6h81l7k__KkR0bFJWW5xLQHLdO/view?usp=sharing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COMPUTING PROJECT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Mobile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Boxing Coach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57200" y="3368732"/>
            <a:ext cx="3657600" cy="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457200" y="34975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Butemj Bat-Orshikh  ·  Assem Sagyndykova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 National University  ·  2026-1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 &amp; Goal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097280" cy="36576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840480" cy="347472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Boxing technique is hard to self-correct without a trainer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apps (FightCamp, Nike) require wearables or offer only generic tracking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vision-based, on-device coaching app exists for combat sports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80560" y="1051560"/>
            <a:ext cx="4297680" cy="347472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461772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125730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classify punches in real time using smartphone camera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entirely on-device </a:t>
            </a: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AI-powered coaching feedback after each session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jab · cross · hook (3-class + idle)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Collection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097280" cy="36576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828800" cy="91440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539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 Classes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1005840"/>
            <a:ext cx="1828800" cy="91440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237744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37744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 / Class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005840"/>
            <a:ext cx="1828800" cy="91440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438912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AC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38912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Duration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005840"/>
            <a:ext cx="2377440" cy="91440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6400800" y="1051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3A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1,280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40080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Windows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194560"/>
            <a:ext cx="3840480" cy="256032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502920" y="2286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2514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0020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hand forward extension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29077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00200" y="29077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hand with shoulder rotation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3009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00200" y="33009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arc, either hand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69417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UPPERCUT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00200" y="36941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Upward drive (removed)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0873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00200" y="4087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Guard, slipping, no punch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80560" y="2194560"/>
            <a:ext cx="4297680" cy="256032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4617720" y="2286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SETUP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17720" y="251460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walk-up-and-go recorder</a:t>
            </a:r>
          </a:p>
          <a:p>
            <a:pPr>
              <a:buSzPct val="100000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(using python)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 timer — press once, walk to position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Southpaw stance, consistent camera height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punch reps per clip — windowed later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Front-facing camera at 2–2.5m distance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Approach 1: On-Device 1D-CNN Classifier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097280" cy="36576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73736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 dirty="0"/>
          </a:p>
        </p:txBody>
      </p:sp>
      <p:sp>
        <p:nvSpPr>
          <p:cNvPr id="5" name="Text 3"/>
          <p:cNvSpPr/>
          <p:nvPr/>
        </p:nvSpPr>
        <p:spPr>
          <a:xfrm>
            <a:off x="502920" y="102457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3749040" cy="18516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(30 frames × 85 features) = keypoints + velocity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Conv1D(32) → BN → ReLU → Dropout(0.4)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Conv1D(64) → BN → ReLU → Dropout(0.4)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GlobalAveragePooling → Dense(32) → Dense(5)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quantization via TFLite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84632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57501"/>
            <a:ext cx="8412480" cy="1988819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 dirty="0"/>
          </a:p>
        </p:txBody>
      </p:sp>
      <p:sp>
        <p:nvSpPr>
          <p:cNvPr id="13" name="Text 11"/>
          <p:cNvSpPr/>
          <p:nvPr/>
        </p:nvSpPr>
        <p:spPr>
          <a:xfrm>
            <a:off x="502920" y="2926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FAILED IN PRACTICE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E5393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dataset: </a:t>
            </a:r>
            <a:r>
              <a:rPr lang="en-US" sz="14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camera heights in same training set. Model couldn't generalize.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little data: </a:t>
            </a:r>
            <a:r>
              <a:rPr lang="en-US" sz="14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clips × 5 classes = 1,024 train samples. Model collapsed to single class repeatedly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recording environment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539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limb detector was constantly being confused by wall and table</a:t>
            </a:r>
          </a:p>
          <a:p>
            <a:endParaRPr lang="en-US" sz="1400" dirty="0">
              <a:solidFill>
                <a:schemeClr val="bg1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1D-CNN: Iterative Failures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097280" cy="36576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6868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4864" cy="8686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clips/class, mixed camera heights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6080" y="1078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acc: 20% — model predicts only 'uppercut'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141732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dataset: first 30 clips at high camera, last 20 at low camera. Two different distributions labeled the same.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8412480" cy="86868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365760" y="1965960"/>
            <a:ext cx="54864" cy="8686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548640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286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30 more idle clips → imbalanced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0" y="2039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acc: 28% — model predicts only 'idle' (100%)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237744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class dominated with 3× more windows. Model learned to always predict majority class.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8412480" cy="86868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54864" cy="8686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548640" y="2971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246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classes + 20 clips/class, consistent height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0" y="2999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acc: 21% — collapses to 'jab' or 'uppercut'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33375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1,024 training samples for 5 classes. Insufficient diversity for generalization.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886200"/>
            <a:ext cx="8412480" cy="86868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365760" y="3886200"/>
            <a:ext cx="54864" cy="8686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548640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206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Front-facing monocular camera limitation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0" y="3959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 depth (z-axis) not captured by 2D pose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26080" y="429768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 and idle share similar x/y keypoint positions. Model can't distinguish without depth info.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Approach 2: LLM-Based Session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097280" cy="36576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switch to Claude API?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68580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365760" cy="36576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572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8470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1D-CNN needs hundreds of clean, consistent samples per class. Hard to collect solo with consistent conditions.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13432"/>
            <a:ext cx="8412480" cy="68580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ambiguity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6517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pose distinguish jab vs idle reliably — both show minimal x/y wrist displacement. LLM can reason about context.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118104"/>
            <a:ext cx="8412480" cy="68580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457200" y="3273552"/>
            <a:ext cx="365760" cy="36576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457200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182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feedback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4564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classifier outputs one label. Claude outputs structured coaching: counts, strengths, improvements, guard analysis.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922776"/>
            <a:ext cx="8412480" cy="68580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 dirty="0"/>
          </a:p>
        </p:txBody>
      </p:sp>
      <p:sp>
        <p:nvSpPr>
          <p:cNvPr id="21" name="Shape 19"/>
          <p:cNvSpPr/>
          <p:nvPr/>
        </p:nvSpPr>
        <p:spPr>
          <a:xfrm>
            <a:off x="457200" y="4078224"/>
            <a:ext cx="365760" cy="36576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457200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9867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insight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26110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Post-session analysis is more useful than real-time classification — mirrors how coaches review footage.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097280" cy="36576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466344" y="1920240"/>
            <a:ext cx="1078992" cy="100584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466344" y="1920240"/>
            <a:ext cx="1078992" cy="54864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466344" y="205740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(CameraX)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545336" y="2423160"/>
            <a:ext cx="109728" cy="0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545336" y="228600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A4"/>
                </a:solidFill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55064" y="1920240"/>
            <a:ext cx="1078992" cy="100584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1655064" y="1920240"/>
            <a:ext cx="1078992" cy="54864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655064" y="205740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34056" y="2423160"/>
            <a:ext cx="109728" cy="0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2734056" y="228600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A4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43784" y="1920240"/>
            <a:ext cx="1078992" cy="100584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Shape 13"/>
          <p:cNvSpPr/>
          <p:nvPr/>
        </p:nvSpPr>
        <p:spPr>
          <a:xfrm>
            <a:off x="2843784" y="1920240"/>
            <a:ext cx="1078992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2843784" y="205740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MoveNet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922776" y="2423160"/>
            <a:ext cx="109728" cy="0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3922776" y="228600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A4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32504" y="1920240"/>
            <a:ext cx="1078992" cy="100584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4032504" y="1920240"/>
            <a:ext cx="1078992" cy="54864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4032504" y="205740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11496" y="2423160"/>
            <a:ext cx="109728" cy="0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5111496" y="228600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A4"/>
                </a:solidFill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21224" y="1920240"/>
            <a:ext cx="1078992" cy="100584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5221224" y="1920240"/>
            <a:ext cx="1078992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5221224" y="205740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00216" y="2423160"/>
            <a:ext cx="109728" cy="0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6300216" y="228600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A4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9944" y="1920240"/>
            <a:ext cx="1078992" cy="100584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0" name="Shape 28"/>
          <p:cNvSpPr/>
          <p:nvPr/>
        </p:nvSpPr>
        <p:spPr>
          <a:xfrm>
            <a:off x="6409944" y="1920240"/>
            <a:ext cx="1078992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6409944" y="205740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API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488936" y="2423160"/>
            <a:ext cx="109728" cy="0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7488936" y="228600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A4"/>
                </a:solidFill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598664" y="1920240"/>
            <a:ext cx="1078992" cy="100584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5" name="Shape 33"/>
          <p:cNvSpPr/>
          <p:nvPr/>
        </p:nvSpPr>
        <p:spPr>
          <a:xfrm>
            <a:off x="7598664" y="1920240"/>
            <a:ext cx="1078992" cy="548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7598664" y="205740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66344" y="306324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30fps front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feed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655064" y="306324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10th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(3fps)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843784" y="306324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keypoints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192×192px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032504" y="306324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keypoints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timestamps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21224" y="306324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peaks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+ shoulder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9944" y="306324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summary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JSON output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598664" y="306324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+ feedback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guard tips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MoveNet Lightning runs fully on-device (TFLite) · Claude API called once per session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Keypoint Buffer &amp; Feature Extractor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097280" cy="36576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74904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 BUFFER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Accumulates MoveNet output during the session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entry: (timestamp, FloatArray[51])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= 17 keypoints × 3 values (y, x, confidence)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at ~3fps → 45 entries for 15s session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memory until session ends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ends → entire buffer sent to Feature Extractor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26280" y="1051560"/>
            <a:ext cx="4206240" cy="374904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4663440" y="10744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EXTRACTOR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63440" y="141732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normalizeHipBased() — centers keypoints on hip midpoint, scales by torso height → body-relative positions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velocityPeaks() — finds frames where wrist speed spikes then drops (punch signature) → timestamp + direction + speed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wristActivity() — sums wrist displacement per 1s window → shows active vs idle periods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shoulderRotations() — detects shoulder width changes &gt; 0.05 → cross/hook indicator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analyzeGuard() — counts % frames wrists dropped below chin or elbows flared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ML model used in this step.                                                                                Output is compact text sent to Claude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Pipeline: Feature Engineering → Claude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097280" cy="36576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374904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SENT TO CLAUDE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velocity peaks — timestamps where wrist speed spikes then decelerates (punch signature)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Per-second motion summary — lead vs power wrist activity level each second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 rotation events — closing/opening shoulder width (cross/hook indicator)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analysis — % frames where wrists drop below chin level, elbow flare detection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at ~3fps — compact, Claude-readable format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3977640" cy="374904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484632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C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AC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"jab_count": 5,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AC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"cross_count": 3,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AC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"hook_count": 2,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AC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"punch_events":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AC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{"time": 2.3, "type": "jab"},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AC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AC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AC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"overall_feedback": "...",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AC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"strengths": [...],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AC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"improvements": [...],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AC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"guard_feedback": "..."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AC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Android Application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097280" cy="36576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74904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SESSION SCREEN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 selector: Orthodox / Southpaw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selector: 10s / 15s / 30s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→ countdown → auto-record → analyze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preview with real-time skeleton overlay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MoveNet Lightning runs on-device (TFLite)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Keypoints sampled at ~3fps during session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26280" y="1051560"/>
            <a:ext cx="4206240" cy="374904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466344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SCREEN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08576" y="11430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 counts: Jab / Cross / Hook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feedback — 2–3 sentence summary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(green ✓)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to improve (orange →)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feedback — raised if hands dropped below chin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 timeline — collapsible, shows each detected punch with timestamp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4718304"/>
            <a:ext cx="109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·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18688" y="4718304"/>
            <a:ext cx="109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·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08576" y="4718304"/>
            <a:ext cx="109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·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98464" y="4718304"/>
            <a:ext cx="109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·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88352" y="4718304"/>
            <a:ext cx="109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·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5BC388-AA12-DDF3-1AE7-98B119BDA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324F7A-ADFB-F197-344C-AD5C7AC0D8C3}"/>
              </a:ext>
            </a:extLst>
          </p:cNvPr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Issues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1C1D73B-2EC7-B952-7920-DA6EB3370CB7}"/>
              </a:ext>
            </a:extLst>
          </p:cNvPr>
          <p:cNvSpPr/>
          <p:nvPr/>
        </p:nvSpPr>
        <p:spPr>
          <a:xfrm>
            <a:off x="457200" y="850392"/>
            <a:ext cx="1097280" cy="36576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643CE60-33A7-5942-3B4E-217363E6CABC}"/>
              </a:ext>
            </a:extLst>
          </p:cNvPr>
          <p:cNvSpPr/>
          <p:nvPr/>
        </p:nvSpPr>
        <p:spPr>
          <a:xfrm>
            <a:off x="365760" y="1051560"/>
            <a:ext cx="3931920" cy="374904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839A5CE-379F-D822-BC3F-EDCC09E83AE9}"/>
              </a:ext>
            </a:extLst>
          </p:cNvPr>
          <p:cNvSpPr/>
          <p:nvPr/>
        </p:nvSpPr>
        <p:spPr>
          <a:xfrm>
            <a:off x="50292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BOXING PUNCH TYPES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E3B5ABA-0B7B-DBB9-E181-6F7348A65639}"/>
              </a:ext>
            </a:extLst>
          </p:cNvPr>
          <p:cNvSpPr/>
          <p:nvPr/>
        </p:nvSpPr>
        <p:spPr>
          <a:xfrm>
            <a:off x="502920" y="13716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D01FC1A-4018-A57E-C48E-34835C7EDFE9}"/>
              </a:ext>
            </a:extLst>
          </p:cNvPr>
          <p:cNvSpPr/>
          <p:nvPr/>
        </p:nvSpPr>
        <p:spPr>
          <a:xfrm>
            <a:off x="4526280" y="1051560"/>
            <a:ext cx="4206240" cy="374904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C75311D-2ED0-FAEB-30A5-68E75EAEA193}"/>
              </a:ext>
            </a:extLst>
          </p:cNvPr>
          <p:cNvSpPr/>
          <p:nvPr/>
        </p:nvSpPr>
        <p:spPr>
          <a:xfrm>
            <a:off x="466344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REASONS FOR UPPERCUT FAILURES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D64883E-94F1-4654-849C-FD8A9F2A8BBF}"/>
              </a:ext>
            </a:extLst>
          </p:cNvPr>
          <p:cNvSpPr/>
          <p:nvPr/>
        </p:nvSpPr>
        <p:spPr>
          <a:xfrm>
            <a:off x="4608576" y="1093124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Upward movement isn’t unique to uppercut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Uppercuts are often thrown at short range and can complete very quickly</a:t>
            </a:r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cs typeface="Calibri" pitchFamily="34" charset="-120"/>
              </a:rPr>
              <a:t>The upward arc is very short</a:t>
            </a: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A9E6013-C51F-7DD3-BCD6-A4BCF0A38561}"/>
              </a:ext>
            </a:extLst>
          </p:cNvPr>
          <p:cNvSpPr/>
          <p:nvPr/>
        </p:nvSpPr>
        <p:spPr>
          <a:xfrm>
            <a:off x="1828800" y="4718304"/>
            <a:ext cx="109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·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58C466A-60F3-2727-8620-E393DABD56E9}"/>
              </a:ext>
            </a:extLst>
          </p:cNvPr>
          <p:cNvSpPr/>
          <p:nvPr/>
        </p:nvSpPr>
        <p:spPr>
          <a:xfrm>
            <a:off x="3218688" y="4718304"/>
            <a:ext cx="109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·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115929F-07E7-780E-8927-54779DC4645B}"/>
              </a:ext>
            </a:extLst>
          </p:cNvPr>
          <p:cNvSpPr/>
          <p:nvPr/>
        </p:nvSpPr>
        <p:spPr>
          <a:xfrm>
            <a:off x="4608576" y="4718304"/>
            <a:ext cx="109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·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3942A59-F4EF-78A0-11C5-CEC19AF107A6}"/>
              </a:ext>
            </a:extLst>
          </p:cNvPr>
          <p:cNvSpPr/>
          <p:nvPr/>
        </p:nvSpPr>
        <p:spPr>
          <a:xfrm>
            <a:off x="5998464" y="4718304"/>
            <a:ext cx="109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·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047386E-993B-B81C-C7CA-D2DA449D466C}"/>
              </a:ext>
            </a:extLst>
          </p:cNvPr>
          <p:cNvSpPr/>
          <p:nvPr/>
        </p:nvSpPr>
        <p:spPr>
          <a:xfrm>
            <a:off x="7388352" y="4718304"/>
            <a:ext cx="109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·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B3EE72-1FC4-1789-1616-BD3978B69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30" y="1387435"/>
            <a:ext cx="3824579" cy="333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908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1097280" cy="36576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365760" y="1034468"/>
            <a:ext cx="4023360" cy="374904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187524"/>
            <a:ext cx="3657600" cy="2921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Monocular camera cannot capture depth (z-axis)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requires internet — cannot work offline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combo detection (e.g., jab-cross sequence)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Uppercut excluded due to technical limitation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69080" cy="374904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 dirty="0"/>
          </a:p>
        </p:txBody>
      </p:sp>
      <p:sp>
        <p:nvSpPr>
          <p:cNvPr id="8" name="Text 6"/>
          <p:cNvSpPr/>
          <p:nvPr/>
        </p:nvSpPr>
        <p:spPr>
          <a:xfrm>
            <a:off x="480060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00600" y="1232154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100+ clips per class from multiple athletes for robust on-device model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sensor fusion (accelerometer + gyroscope) to recover depth signal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lightweight vision-language model for fully on-device analysis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Left/right hook and uppercut detection with dual-camera depth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history tracking and progress over time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6CA9CA-2BFB-E568-B8B0-29D829FDE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7D9E85B-7A57-5058-73EB-2571518D9ECA}"/>
              </a:ext>
            </a:extLst>
          </p:cNvPr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7544AFE-5A95-B297-6710-735378A79070}"/>
              </a:ext>
            </a:extLst>
          </p:cNvPr>
          <p:cNvSpPr/>
          <p:nvPr/>
        </p:nvSpPr>
        <p:spPr>
          <a:xfrm>
            <a:off x="457200" y="850392"/>
            <a:ext cx="1097280" cy="36576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60F86F2-0953-5EBD-11C6-9D0D3FD9F8F9}"/>
              </a:ext>
            </a:extLst>
          </p:cNvPr>
          <p:cNvSpPr/>
          <p:nvPr/>
        </p:nvSpPr>
        <p:spPr>
          <a:xfrm>
            <a:off x="365760" y="1034468"/>
            <a:ext cx="4023360" cy="374904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KR" dirty="0"/>
          </a:p>
          <a:p>
            <a:endParaRPr lang="en-KR" dirty="0"/>
          </a:p>
          <a:p>
            <a:endParaRPr lang="en-KR" dirty="0"/>
          </a:p>
          <a:p>
            <a:endParaRPr lang="en-KR" dirty="0"/>
          </a:p>
          <a:p>
            <a:endParaRPr lang="en-KR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4A6D3EA-4A72-DF3B-7E7E-6F7402787411}"/>
              </a:ext>
            </a:extLst>
          </p:cNvPr>
          <p:cNvSpPr/>
          <p:nvPr/>
        </p:nvSpPr>
        <p:spPr>
          <a:xfrm>
            <a:off x="731520" y="10984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EMULATOR SCREEN CAPTURE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F0F962F-2618-FC32-6B60-553A82351757}"/>
              </a:ext>
            </a:extLst>
          </p:cNvPr>
          <p:cNvSpPr/>
          <p:nvPr/>
        </p:nvSpPr>
        <p:spPr>
          <a:xfrm>
            <a:off x="502920" y="1187524"/>
            <a:ext cx="3657600" cy="2921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D9B9FB2-71ED-0C4C-FB6C-E7D94FD169E8}"/>
              </a:ext>
            </a:extLst>
          </p:cNvPr>
          <p:cNvSpPr/>
          <p:nvPr/>
        </p:nvSpPr>
        <p:spPr>
          <a:xfrm>
            <a:off x="4663440" y="1051560"/>
            <a:ext cx="4069080" cy="3749040"/>
          </a:xfrm>
          <a:prstGeom prst="rect">
            <a:avLst/>
          </a:prstGeom>
          <a:solidFill>
            <a:srgbClr val="1C2236"/>
          </a:solidFill>
          <a:ln w="12700">
            <a:solidFill>
              <a:srgbClr val="252D4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https://drive.google.com/file/d/1o1zmVS6h81l7k__KkR0bFJWW5xLQHLdO/view?usp=sharing</a:t>
            </a:r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EDA6F56-1472-FC69-F89E-885B886F4215}"/>
              </a:ext>
            </a:extLst>
          </p:cNvPr>
          <p:cNvSpPr/>
          <p:nvPr/>
        </p:nvSpPr>
        <p:spPr>
          <a:xfrm>
            <a:off x="480060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C54F381-88CD-3D6F-C760-792C201473BC}"/>
              </a:ext>
            </a:extLst>
          </p:cNvPr>
          <p:cNvSpPr/>
          <p:nvPr/>
        </p:nvSpPr>
        <p:spPr>
          <a:xfrm>
            <a:off x="4800600" y="1232154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218C6D-C88F-0764-C04C-125B8877B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703" y="1327076"/>
            <a:ext cx="2431473" cy="345643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2912D7C-7A03-5CD0-0A36-8D8AF3F2301C}"/>
              </a:ext>
            </a:extLst>
          </p:cNvPr>
          <p:cNvSpPr txBox="1"/>
          <p:nvPr/>
        </p:nvSpPr>
        <p:spPr>
          <a:xfrm>
            <a:off x="5276503" y="1117854"/>
            <a:ext cx="373033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kern="0" spc="3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SHADOWBOX RECORDING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280854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9A9866-3CF9-B5C8-96F0-3F2691692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D795106-A1FF-3BF7-C355-04FC5E95AE6D}"/>
              </a:ext>
            </a:extLst>
          </p:cNvPr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94A9438-6AE5-BE9C-54D0-EF8BA8A968CD}"/>
              </a:ext>
            </a:extLst>
          </p:cNvPr>
          <p:cNvSpPr/>
          <p:nvPr/>
        </p:nvSpPr>
        <p:spPr>
          <a:xfrm>
            <a:off x="502920" y="1187524"/>
            <a:ext cx="3657600" cy="2921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0136980-2BAB-7F7D-A708-E72A7A969ACE}"/>
              </a:ext>
            </a:extLst>
          </p:cNvPr>
          <p:cNvSpPr/>
          <p:nvPr/>
        </p:nvSpPr>
        <p:spPr>
          <a:xfrm>
            <a:off x="480060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28B1D06-3292-B4A0-82E9-85B2CD346500}"/>
              </a:ext>
            </a:extLst>
          </p:cNvPr>
          <p:cNvSpPr/>
          <p:nvPr/>
        </p:nvSpPr>
        <p:spPr>
          <a:xfrm>
            <a:off x="4800600" y="1232154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3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A01529B-6D1F-5989-ACB4-310CE4CF9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022" y="0"/>
            <a:ext cx="2769182" cy="5143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CF2A883-A1B3-079F-87FB-CE2CC9CFC6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428" y="0"/>
            <a:ext cx="239852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865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1208</Words>
  <Application>Microsoft Macintosh PowerPoint</Application>
  <PresentationFormat>On-screen Show (16:9)</PresentationFormat>
  <Paragraphs>225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Mobile Boxing Coach</dc:title>
  <dc:subject>PptxGenJS Presentation</dc:subject>
  <dc:creator>PptxGenJS</dc:creator>
  <cp:lastModifiedBy>Butemj Bat-Orshikh</cp:lastModifiedBy>
  <cp:revision>5</cp:revision>
  <dcterms:created xsi:type="dcterms:W3CDTF">2026-06-01T02:03:19Z</dcterms:created>
  <dcterms:modified xsi:type="dcterms:W3CDTF">2026-06-01T14:10:39Z</dcterms:modified>
</cp:coreProperties>
</file>