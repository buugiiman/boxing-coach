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52"/>
    <p:restoredTop sz="94610"/>
  </p:normalViewPr>
  <p:slideViewPr>
    <p:cSldViewPr snapToGrid="0" snapToObjects="1">
      <p:cViewPr>
        <p:scale>
          <a:sx n="139" d="100"/>
          <a:sy n="139" d="100"/>
        </p:scale>
        <p:origin x="74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10948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COMPUTING PROJECT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Mobile</a:t>
            </a:r>
            <a:endParaRPr lang="en-US" sz="4800" dirty="0"/>
          </a:p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Boxing Coach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On-Device Deep Learning + LLM Analysis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3657600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Butemj Bat-Orshikh  ·  Assem Sagyndykova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National University  ·  2026-1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 &amp; Goal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840480" cy="347472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35661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Boxing technique is hard to self-correct without a trainer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apps (FightCamp, Nike) require wearables or offer only generic tracking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vision-based, on-device coaching app exists for combat sports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80560" y="1051560"/>
            <a:ext cx="4297680" cy="347472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61772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617720" y="1371600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&amp; classify punches in real time using smartphone camera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entirely on-device — no wearables, no internet required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AI-powered coaching feedback after each session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jab · cross · hook (3-class + idle)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1371600" cy="10058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1371600" cy="54864"/>
          </a:xfrm>
          <a:prstGeom prst="rect">
            <a:avLst/>
          </a:prstGeom>
          <a:solidFill>
            <a:srgbClr val="00ACC1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(CameraX)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57400" y="2423160"/>
            <a:ext cx="228600" cy="0"/>
          </a:xfrm>
          <a:prstGeom prst="line">
            <a:avLst/>
          </a:prstGeom>
          <a:noFill/>
          <a:ln w="2540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2057400" y="22860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</a:rPr>
              <a:t>→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0" y="1920240"/>
            <a:ext cx="1371600" cy="10058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2286000" y="1920240"/>
            <a:ext cx="1371600" cy="548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2286000" y="2057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MoveNet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0" y="2423160"/>
            <a:ext cx="228600" cy="0"/>
          </a:xfrm>
          <a:prstGeom prst="line">
            <a:avLst/>
          </a:prstGeom>
          <a:noFill/>
          <a:ln w="2540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3657600" y="22860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86200" y="1920240"/>
            <a:ext cx="1371600" cy="10058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3886200" y="1920240"/>
            <a:ext cx="1371600" cy="54864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3886200" y="2057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Keypoint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257800" y="2423160"/>
            <a:ext cx="228600" cy="0"/>
          </a:xfrm>
          <a:prstGeom prst="line">
            <a:avLst/>
          </a:prstGeom>
          <a:noFill/>
          <a:ln w="2540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5257800" y="22860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0" y="1920240"/>
            <a:ext cx="1371600" cy="10058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486400" y="1920240"/>
            <a:ext cx="1371600" cy="54864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5486400" y="2057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 API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58000" y="2423160"/>
            <a:ext cx="228600" cy="0"/>
          </a:xfrm>
          <a:prstGeom prst="line">
            <a:avLst/>
          </a:prstGeom>
          <a:noFill/>
          <a:ln w="2540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6858000" y="22860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</a:rPr>
              <a:t>→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086600" y="1920240"/>
            <a:ext cx="1371600" cy="10058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7086600" y="1920240"/>
            <a:ext cx="1371600" cy="54864"/>
          </a:xfrm>
          <a:prstGeom prst="rect">
            <a:avLst/>
          </a:prstGeom>
          <a:solidFill>
            <a:srgbClr val="43A047"/>
          </a:solidFill>
          <a:ln w="12700">
            <a:solidFill>
              <a:srgbClr val="43A047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7086600" y="2057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063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30fps front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feed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86000" y="3063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keypoints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 192×192px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886200" y="3063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~3fps session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0" y="3063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features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analysis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086600" y="3063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+ feedback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guard tips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MoveNet Lightning runs fully on-device (TFLite) · Claude API called once per session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Collection Pipeline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828800" cy="9144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539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Classes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77440" y="1005840"/>
            <a:ext cx="1828800" cy="9144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237744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237744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/ Class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005840"/>
            <a:ext cx="1828800" cy="9144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389120" y="1051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AC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~3s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438912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Duration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0" y="1005840"/>
            <a:ext cx="2377440" cy="9144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400800" y="10515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43A0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1,280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0080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Windows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194560"/>
            <a:ext cx="3840480" cy="256032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50292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5146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600200" y="2514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hand forward extension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290779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00200" y="290779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hand with shoulder rotation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330098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00200" y="330098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arc, either hand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9417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UPPERCUT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600200" y="369417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Upward drive (removed — depth issue)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408736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60020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Guard, slipping, no punch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480560" y="2194560"/>
            <a:ext cx="4297680" cy="256032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4617720" y="2286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SETUP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17720" y="2514600"/>
            <a:ext cx="3931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walk-up-and-go recorder (record_data.py)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Countdown timer — press once, walk to position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Southpaw stance, consistent camera height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punch reps per clip — windowed later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Front-facing camera at 2–2.5m distance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Approach 1: On-Device 1D-CNN Classifier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8412480" cy="173736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 dirty="0"/>
          </a:p>
        </p:txBody>
      </p:sp>
      <p:sp>
        <p:nvSpPr>
          <p:cNvPr id="5" name="Text 3"/>
          <p:cNvSpPr/>
          <p:nvPr/>
        </p:nvSpPr>
        <p:spPr>
          <a:xfrm>
            <a:off x="502920" y="1024575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3749040" cy="185166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(30 frames × 85 features) = keypoints + velocity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Conv1D(32) → BN → ReLU → Dropout(0.4)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Conv1D(64) → BN → ReLU → Dropout(0.4)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GlobalAveragePooling → Dense(32) → Dense(5)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quantization via TFLite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84632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857501"/>
            <a:ext cx="8412480" cy="1988819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 dirty="0"/>
          </a:p>
        </p:txBody>
      </p:sp>
      <p:sp>
        <p:nvSpPr>
          <p:cNvPr id="13" name="Text 11"/>
          <p:cNvSpPr/>
          <p:nvPr/>
        </p:nvSpPr>
        <p:spPr>
          <a:xfrm>
            <a:off x="502920" y="2926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FAILED IN PRACTICE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2461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E5393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dataset: </a:t>
            </a: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camera heights in same training set. Model couldn't generalize.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little data: </a:t>
            </a: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clips × 5 classes = 1,024 train samples. Model collapsed to single class repeatedly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Uncontrolled recording environment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E53935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chemeClr val="bg1"/>
                </a:solidFill>
                <a:latin typeface="Calibri" pitchFamily="34" charset="0"/>
                <a:cs typeface="Calibri" pitchFamily="34" charset="-120"/>
              </a:rPr>
              <a:t>limb detector was constantly being confused by wall and table</a:t>
            </a:r>
          </a:p>
          <a:p>
            <a:endParaRPr lang="en-US" sz="1300" dirty="0">
              <a:solidFill>
                <a:schemeClr val="bg1"/>
              </a:solidFill>
              <a:latin typeface="Calibri" pitchFamily="34" charset="0"/>
              <a:cs typeface="Calibri" pitchFamily="34" charset="-120"/>
            </a:endParaRPr>
          </a:p>
          <a:p>
            <a:pPr marL="0" indent="0">
              <a:buNone/>
            </a:pPr>
            <a:endParaRPr lang="en-US" sz="13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1D-CNN: Iterative Failures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86868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54864" cy="8686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clips/class, mixed camera heights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92608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acc: 20% — model predicts only 'uppercut'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0" y="141732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dataset: first 30 clips at high camera, last 20 at low camera. Two different distributions labeled the same.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1965960"/>
            <a:ext cx="8412480" cy="86868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365760" y="1965960"/>
            <a:ext cx="54864" cy="8686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30 more idle clips → imbalanced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926080" y="2039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acc: 28% — model predicts only 'idle' (100%)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237744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class dominated with 3× more windows. Model learned to always predict majority class.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8412480" cy="86868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54864" cy="8686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2461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classes + 20 clips/class, consistent height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2608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acc: 21% — collapses to 'jab' or 'uppercut'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26080" y="333756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1,024 training samples for 5 classes. Insufficient diversity for generalization.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886200"/>
            <a:ext cx="8412480" cy="86868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365760" y="3886200"/>
            <a:ext cx="54864" cy="868680"/>
          </a:xfrm>
          <a:prstGeom prst="rect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548640" y="3931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4206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Front-facing monocular camera limitation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926080" y="3959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depth (z-axis) not captured by 2D pose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926080" y="429768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 and idle share similar x/y keypoint positions. Model can't distinguish without depth info.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Approach 2: LLM-Based Session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3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switch to Claude API?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8412480" cy="6858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457200" y="1664208"/>
            <a:ext cx="365760" cy="36576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57276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limitation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8470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1D-CNN needs hundreds of clean, consistent samples per class. Hard to collect solo with consistent conditions.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313432"/>
            <a:ext cx="8412480" cy="6858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365760" cy="36576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ambiguity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6517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pose distinguish jab vs idle reliably — both show minimal x/y wrist displacement. LLM can reason about context. can't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118104"/>
            <a:ext cx="8412480" cy="6858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457200" y="3273552"/>
            <a:ext cx="365760" cy="36576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457200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318211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feedback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34564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classifier outputs one label. Claude outputs structured coaching: counts, strengths, improvements, guard analysis.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922776"/>
            <a:ext cx="8412480" cy="6858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 dirty="0"/>
          </a:p>
        </p:txBody>
      </p:sp>
      <p:sp>
        <p:nvSpPr>
          <p:cNvPr id="21" name="Shape 19"/>
          <p:cNvSpPr/>
          <p:nvPr/>
        </p:nvSpPr>
        <p:spPr>
          <a:xfrm>
            <a:off x="457200" y="4078224"/>
            <a:ext cx="365760" cy="365760"/>
          </a:xfrm>
          <a:prstGeom prst="ellipse">
            <a:avLst/>
          </a:prstGeom>
          <a:solidFill>
            <a:srgbClr val="FFB300"/>
          </a:solidFill>
          <a:ln w="12700">
            <a:solidFill>
              <a:srgbClr val="FFB3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45720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0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9867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insight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426110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Post-session analysis is more useful than real-time classification — mirrors how coaches review footage.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LLM Pipeline: Feature Engineering → Claude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4114800" cy="37490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SENT TO CLAUDE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Wrist velocity peaks — timestamps where wrist speed spikes then decelerates (punch signature)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Per-second motion summary — lead vs power wrist activity level each second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Shoulder rotation events — closing/opening shoulder width (cross/hook indicator)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analysis — % frames where wrists drop below chin level, elbow flare detection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at ~3fps — compact, Claude-readable format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051560"/>
            <a:ext cx="3977640" cy="37490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84632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657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"jab_count": 5,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"cross_count": 3,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"hook_count": 2,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"punch_events": [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{"time": 2.3, "type": "jab"},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"overall_feedback": "...",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"strengths": [...],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"improvements": [...],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"guard_feedback": "..."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AC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Android Application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931920" cy="37490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SESSION SCREEN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35661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Stance selector: Orthodox / Southpaw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selector: 10s / 15s / 30s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→ countdown → auto-record → analyze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preview with real-time skeleton overlay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MoveNet Lightning runs on-device (TFLite)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Keypoints sampled at ~3fps during session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051560"/>
            <a:ext cx="4206240" cy="37490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66344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SCREEN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63440" y="1371600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counts: Jab / Cross / Hook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feedback — 2–3 sentence summary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(green ✓)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to improve (orange →)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feedback — raised if hands dropped below chin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Punch timeline — collapsible, shows each detected punch with timestamp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" y="4663440"/>
            <a:ext cx="8366760" cy="320040"/>
          </a:xfrm>
          <a:prstGeom prst="rect">
            <a:avLst/>
          </a:prstGeom>
          <a:solidFill>
            <a:srgbClr val="141928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48640" y="4718304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0" y="4718304"/>
            <a:ext cx="109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</a:rPr>
              <a:t>·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38528" y="4718304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18688" y="4718304"/>
            <a:ext cx="109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</a:rPr>
              <a:t>·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28416" y="4718304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MoveNet Lightning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08576" y="4718304"/>
            <a:ext cx="109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</a:rPr>
              <a:t>·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18304" y="4718304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98464" y="4718304"/>
            <a:ext cx="109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</a:rPr>
              <a:t>·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08192" y="4718304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Haiku API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88352" y="4718304"/>
            <a:ext cx="1097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</a:rPr>
              <a:t>·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498080" y="4718304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8+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Optimization: MoveNet Quantization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MoveNet Lightning — TFLite INT8 Deployment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1920240" cy="9144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0AC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192px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2057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Resolution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463040"/>
            <a:ext cx="1920240" cy="9144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246888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43A04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30+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2468880" y="2057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on S23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463040"/>
            <a:ext cx="1920240" cy="9144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57200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565C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INT8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4572000" y="20574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75120" y="1463040"/>
            <a:ext cx="2011680" cy="9144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675120" y="15087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B3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&lt;5ms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675120" y="2057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Latency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606040"/>
            <a:ext cx="8412480" cy="182880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502920" y="2670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QUANTIZATION (1D-CNN Classifier)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28346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77440" y="28346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Float32 (Keras)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663440" y="28346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(TFLite)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49440" y="28346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108960"/>
            <a:ext cx="8138160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50292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Accuracy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7744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63440" y="3200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949440" y="3200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−0.3%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35478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3774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~400KB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634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~110KB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49440" y="35478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−73%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2920" y="38953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Speed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377440" y="38953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63440" y="38953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~1ms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949440" y="38953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 faster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65760" y="45720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The 1D-CNN classifier achieved 100% val accuracy but failed in real-world deployment due to data quality issues (see Slide 5–6). The TFLite optimization pipeline is preserved for the thesis report.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50392"/>
            <a:ext cx="1097280" cy="36576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365760" y="1034468"/>
            <a:ext cx="4023360" cy="37490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 dirty="0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3657600" cy="29215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Monocular camera cannot capture depth (z-axis) — makes uppercut indistinguishable from idle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requires internet — cannot work offline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~1–2s analysis latency after session ends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combo detection (e.g., jab-cross sequence)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Uppercut excluded due to depth limitation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4069080" cy="3749040"/>
          </a:xfrm>
          <a:prstGeom prst="rect">
            <a:avLst/>
          </a:prstGeom>
          <a:solidFill>
            <a:srgbClr val="1C2236"/>
          </a:solidFill>
          <a:ln w="12700">
            <a:solidFill>
              <a:srgbClr val="252D42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800600" y="1143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00600" y="1371600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100+ clips per class from multiple athletes for robust on-device model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 sensor fusion (accelerometer + gyroscope) to recover depth signal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lightweight vision-language model for fully on-device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Left/right hook and uppercut detection with dual-camera depth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 tracking and progress over time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Built &amp; Learned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17373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Android app: CameraX → MoveNet → Claude API → Results screen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MoveNet Lightning TFLite with INT8 quantization running at 30+ FPS on-device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28346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1D-CNN trained to 100% val accuracy — exposed real-world deployment challenges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33832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LLM-based post-session analysis produces richer coaching than binary classification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9319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39319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evaluation: depth ambiguity in monocular cameras is a fundamental limitation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National University · Mobile Computing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1190</Words>
  <Application>Microsoft Macintosh PowerPoint</Application>
  <PresentationFormat>On-screen Show (16:9)</PresentationFormat>
  <Paragraphs>224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Mobile Boxing Coach</dc:title>
  <dc:subject>PptxGenJS Presentation</dc:subject>
  <dc:creator>PptxGenJS</dc:creator>
  <cp:lastModifiedBy>Butemj Bat-Orshikh</cp:lastModifiedBy>
  <cp:revision>2</cp:revision>
  <dcterms:created xsi:type="dcterms:W3CDTF">2026-06-01T02:03:19Z</dcterms:created>
  <dcterms:modified xsi:type="dcterms:W3CDTF">2026-06-01T03:11:27Z</dcterms:modified>
</cp:coreProperties>
</file>